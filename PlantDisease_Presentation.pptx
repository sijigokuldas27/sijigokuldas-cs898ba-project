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898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206ca030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206ca030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206ca030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206ca030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206ca030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206ca030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06ca030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206ca030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 Disease Detection from Leaf Images 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/>
              <a:t>A Computer Vision Approach using CNNs + Image Processing </a:t>
            </a:r>
            <a:br>
              <a:rPr lang="en" sz="7200"/>
            </a:br>
            <a:br>
              <a:rPr lang="en" sz="7200"/>
            </a:br>
            <a:r>
              <a:rPr lang="en" sz="7200"/>
              <a:t>Siji Gokuldas | CS 898BA | Summer 2026 </a:t>
            </a:r>
            <a:endParaRPr sz="7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                </a:t>
            </a:r>
            <a:r>
              <a:rPr lang="en" sz="3300"/>
              <a:t>Project Overview </a:t>
            </a:r>
            <a:endParaRPr sz="330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Goal: Automatically detect plant disease from leaf images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Real-world impact: Early detection helps farmers act before crop loss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Approach: Deep learning (CNN) + dedicated image processing pipeline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Dataset: PlantVillage (~54,000 labeled leaf images, healthy vs diseased)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                 </a:t>
            </a:r>
            <a:r>
              <a:rPr lang="en" sz="3300"/>
              <a:t>Literature Review </a:t>
            </a:r>
            <a:endParaRPr sz="330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Two major research directions in plant disease detection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Classical ML: hand-crafted features (color, texture) + SVM/Random Forest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Deep Learning: CNNs automatically learn features from raw images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Key reference: Mohanty, Hughes &amp; Salathé (2016) - CNNs on PlantVillage dataset, ~99% accuracy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Established CNNs as the dominant modern approach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       Alternative Approaches &amp; Justification</a:t>
            </a:r>
            <a:r>
              <a:rPr lang="en" sz="1100"/>
              <a:t> 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50" dirty="0">
                <a:solidFill>
                  <a:schemeClr val="dk1"/>
                </a:solidFill>
              </a:rPr>
              <a:t>• Option A: Classical ML Pipeline</a:t>
            </a:r>
            <a:endParaRPr sz="3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dirty="0">
                <a:solidFill>
                  <a:schemeClr val="dk1"/>
                </a:solidFill>
              </a:rPr>
              <a:t>• Hand-crafted features (color histograms, texture, shape) + SVM</a:t>
            </a:r>
            <a:endParaRPr sz="3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dirty="0">
                <a:solidFill>
                  <a:schemeClr val="dk1"/>
                </a:solidFill>
              </a:rPr>
              <a:t>• Pros: cheap, interpretable | Cons: lower accuracy, manual feature engineering</a:t>
            </a:r>
            <a:endParaRPr sz="3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dirty="0">
                <a:solidFill>
                  <a:schemeClr val="dk1"/>
                </a:solidFill>
              </a:rPr>
              <a:t>• Option B: CNN with Transfer Learning (Selected)</a:t>
            </a:r>
            <a:endParaRPr sz="3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dirty="0">
                <a:solidFill>
                  <a:schemeClr val="dk1"/>
                </a:solidFill>
              </a:rPr>
              <a:t>• Pretrained CNN (ResNet50/EfficientNet) fine-tuned on leaf dataset</a:t>
            </a:r>
            <a:endParaRPr sz="3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dirty="0">
                <a:solidFill>
                  <a:schemeClr val="dk1"/>
                </a:solidFill>
              </a:rPr>
              <a:t>• Pros: higher accuracy, learns features automatically</a:t>
            </a:r>
            <a:endParaRPr sz="3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dirty="0">
                <a:solidFill>
                  <a:schemeClr val="dk1"/>
                </a:solidFill>
              </a:rPr>
              <a:t>• Why Option B: Proven accuracy + free GPU via Colab removes the compute barrier</a:t>
            </a:r>
            <a:endParaRPr sz="3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              Image Processing Strategy </a:t>
            </a:r>
            <a:endParaRPr sz="300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• Beyond basic augmentation, pipeline includes: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• Leaf/Background Segmentation (color thresholding)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• RGB - HSV Color Conversion (highlights disease discoloration)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• Noise Reduction &amp; Contrast Enhancement (Gaussian blur, histogram equalization)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• Goal: feed the CNN cleaner, disease-relevant visual signal - not just raw pixels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69AF-E9D3-EDE6-41E5-B53A4BDC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/>
              <a:t>                        Data Pipeline in Action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05209-AFCB-A1E4-5668-E40A28E96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</a:rPr>
              <a:t>Each leaf image is converted to HSV, segmented to isolate the leaf, then denoised and contrast-enhanced before being fed to the model.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4D5D0-D6E6-6630-82FE-8DB5FD31C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1" y="1918741"/>
            <a:ext cx="8614942" cy="303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5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3A99-CEC1-3B0C-72C3-3C781ADC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 Baseline Model &amp;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73255-D148-A168-4FC2-58C866171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</a:rPr>
              <a:t>Model: Pretrained ResNet18, fine-tuned on leaf dataset (transfer learning)</a:t>
            </a:r>
          </a:p>
          <a:p>
            <a:endParaRPr lang="en-US" dirty="0">
              <a:solidFill>
                <a:schemeClr val="dk1"/>
              </a:solidFill>
            </a:endParaRPr>
          </a:p>
          <a:p>
            <a:r>
              <a:rPr lang="en-US" dirty="0">
                <a:solidFill>
                  <a:schemeClr val="dk1"/>
                </a:solidFill>
              </a:rPr>
              <a:t>Training subset: 2,000 images (16 disease classes), 80/20 train-test split</a:t>
            </a:r>
          </a:p>
          <a:p>
            <a:endParaRPr lang="en-US" dirty="0">
              <a:solidFill>
                <a:schemeClr val="dk1"/>
              </a:solidFill>
            </a:endParaRPr>
          </a:p>
          <a:p>
            <a:r>
              <a:rPr lang="en-US" dirty="0">
                <a:solidFill>
                  <a:schemeClr val="dk1"/>
                </a:solidFill>
              </a:rPr>
              <a:t>Training: 3 epochs on CPU (no GPU access on current hardware)</a:t>
            </a:r>
          </a:p>
          <a:p>
            <a:endParaRPr lang="en-US" dirty="0">
              <a:solidFill>
                <a:schemeClr val="dk1"/>
              </a:solidFill>
            </a:endParaRPr>
          </a:p>
          <a:p>
            <a:r>
              <a:rPr lang="en-US" dirty="0">
                <a:solidFill>
                  <a:schemeClr val="dk1"/>
                </a:solidFill>
              </a:rPr>
              <a:t>Baseline test accuracy: 45.25%</a:t>
            </a:r>
          </a:p>
          <a:p>
            <a:endParaRPr lang="en-US" dirty="0">
              <a:solidFill>
                <a:schemeClr val="dk1"/>
              </a:solidFill>
            </a:endParaRPr>
          </a:p>
          <a:p>
            <a:r>
              <a:rPr lang="en-US" dirty="0">
                <a:solidFill>
                  <a:schemeClr val="dk1"/>
                </a:solidFill>
              </a:rPr>
              <a:t>Context: Random guessing across 16 classes ≈ 6% — baseline shows the pipeline and model are learning meaningful patterns</a:t>
            </a:r>
          </a:p>
        </p:txBody>
      </p:sp>
    </p:spTree>
    <p:extLst>
      <p:ext uri="{BB962C8B-B14F-4D97-AF65-F5344CB8AC3E}">
        <p14:creationId xmlns:p14="http://schemas.microsoft.com/office/powerpoint/2010/main" val="207310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2861-0427-DBC3-7D69-A2D3B212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Roadblocks &amp; Pivots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5F4C6-A0B1-8460-5F63-9704DA89E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dk1"/>
                </a:solidFill>
              </a:rPr>
              <a:t>Roadblock: No GPU on local hardware — full 54,000-image training would be too slow for this milestone</a:t>
            </a:r>
          </a:p>
          <a:p>
            <a:endParaRPr lang="en-US" dirty="0">
              <a:solidFill>
                <a:schemeClr val="dk1"/>
              </a:solidFill>
            </a:endParaRPr>
          </a:p>
          <a:p>
            <a:r>
              <a:rPr lang="en-US" dirty="0">
                <a:solidFill>
                  <a:schemeClr val="dk1"/>
                </a:solidFill>
              </a:rPr>
              <a:t>Pivot: Switched from </a:t>
            </a:r>
            <a:r>
              <a:rPr lang="en-US" dirty="0" err="1">
                <a:solidFill>
                  <a:schemeClr val="dk1"/>
                </a:solidFill>
              </a:rPr>
              <a:t>Colab</a:t>
            </a:r>
            <a:r>
              <a:rPr lang="en-US" dirty="0">
                <a:solidFill>
                  <a:schemeClr val="dk1"/>
                </a:solidFill>
              </a:rPr>
              <a:t> to local VS Code setup; trained on a 2,000-image subset to get real, honest baseline numbers within the timeline</a:t>
            </a:r>
          </a:p>
          <a:p>
            <a:endParaRPr lang="en-US" dirty="0">
              <a:solidFill>
                <a:schemeClr val="dk1"/>
              </a:solidFill>
            </a:endParaRPr>
          </a:p>
          <a:p>
            <a:r>
              <a:rPr lang="en-US" dirty="0">
                <a:solidFill>
                  <a:schemeClr val="dk1"/>
                </a:solidFill>
              </a:rPr>
              <a:t>Roadblock: Segmentation mask initially needed tuning to correctly isolate leaf from background</a:t>
            </a:r>
          </a:p>
          <a:p>
            <a:endParaRPr lang="en-US" dirty="0">
              <a:solidFill>
                <a:schemeClr val="dk1"/>
              </a:solidFill>
            </a:endParaRPr>
          </a:p>
          <a:p>
            <a:r>
              <a:rPr lang="en-US" dirty="0">
                <a:solidFill>
                  <a:schemeClr val="dk1"/>
                </a:solidFill>
              </a:rPr>
              <a:t>Pivot: Adjusted HSV color thresholds until segmentation cleanly separated leaf pixels from background</a:t>
            </a:r>
          </a:p>
          <a:p>
            <a:endParaRPr lang="en-US" dirty="0">
              <a:solidFill>
                <a:schemeClr val="dk1"/>
              </a:solidFill>
            </a:endParaRPr>
          </a:p>
          <a:p>
            <a:r>
              <a:rPr lang="en-US" dirty="0">
                <a:solidFill>
                  <a:schemeClr val="dk1"/>
                </a:solidFill>
              </a:rPr>
              <a:t>Next steps: Train on larger subset with more epochs before final submission; explore GPU access (</a:t>
            </a:r>
            <a:r>
              <a:rPr lang="en-US" dirty="0" err="1">
                <a:solidFill>
                  <a:schemeClr val="dk1"/>
                </a:solidFill>
              </a:rPr>
              <a:t>Colab</a:t>
            </a:r>
            <a:r>
              <a:rPr lang="en-US" dirty="0">
                <a:solidFill>
                  <a:schemeClr val="dk1"/>
                </a:solidFill>
              </a:rPr>
              <a:t> or cloud) to speed up full-dataset training</a:t>
            </a:r>
          </a:p>
        </p:txBody>
      </p:sp>
    </p:spTree>
    <p:extLst>
      <p:ext uri="{BB962C8B-B14F-4D97-AF65-F5344CB8AC3E}">
        <p14:creationId xmlns:p14="http://schemas.microsoft.com/office/powerpoint/2010/main" val="39875731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498</Words>
  <Application>Microsoft Office PowerPoint</Application>
  <PresentationFormat>On-screen Show (16:9)</PresentationFormat>
  <Paragraphs>49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Plant Disease Detection from Leaf Images </vt:lpstr>
      <vt:lpstr>                Project Overview </vt:lpstr>
      <vt:lpstr>                 Literature Review </vt:lpstr>
      <vt:lpstr>       Alternative Approaches &amp; Justification </vt:lpstr>
      <vt:lpstr>               Image Processing Strategy </vt:lpstr>
      <vt:lpstr>                        Data Pipeline in Action</vt:lpstr>
      <vt:lpstr> Baseline Model &amp; Results</vt:lpstr>
      <vt:lpstr>Roadblocks &amp; Pivots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Siji G</dc:creator>
  <cp:lastModifiedBy>Gokuldas, Siji</cp:lastModifiedBy>
  <cp:revision>1</cp:revision>
  <dcterms:modified xsi:type="dcterms:W3CDTF">2026-07-12T07:35:56Z</dcterms:modified>
</cp:coreProperties>
</file>